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embeddedFontLst>
    <p:embeddedFont>
      <p:font typeface="Lato" panose="020F0502020204030203" pitchFamily="34" charset="0"/>
      <p:regular r:id="rId15"/>
      <p:bold r:id="rId16"/>
      <p:italic r:id="rId17"/>
      <p:boldItalic r:id="rId18"/>
    </p:embeddedFont>
    <p:embeddedFont>
      <p:font typeface="Montserrat" panose="000005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372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021ec56cd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d021ec56cd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021ec56cd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d021ec56cd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199bd5d57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d199bd5d57_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199bd5d57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d199bd5d57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199bd5d57_1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d199bd5d57_1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199bd5d57_1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d199bd5d57_1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da3349be4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da3349be4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d199bd5d57_1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d199bd5d57_1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d1d4ccac40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d1d4ccac40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1d4ccac40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d1d4ccac40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d1d4ccac40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d1d4ccac40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341625" y="194750"/>
            <a:ext cx="5561700" cy="27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500" b="1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Delivery Route Optimization System</a:t>
            </a:r>
            <a:endParaRPr sz="4500" b="1">
              <a:solidFill>
                <a:srgbClr val="FFFF00"/>
              </a:solidFill>
            </a:endParaRPr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5673300" y="3368825"/>
            <a:ext cx="3470700" cy="16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43" b="1"/>
              <a:t>TEAM MEMBERS:</a:t>
            </a:r>
            <a:endParaRPr sz="1343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/>
          </a:p>
          <a:p>
            <a:pPr marL="457200" lvl="0" indent="-35857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2408" b="1"/>
              <a:t>Pushpesh Kumar Sah</a:t>
            </a:r>
            <a:endParaRPr sz="2408" b="1"/>
          </a:p>
          <a:p>
            <a:pPr marL="457200" lvl="0" indent="-35857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2408" b="1"/>
              <a:t>Avinash KR</a:t>
            </a:r>
            <a:endParaRPr sz="2408" b="1"/>
          </a:p>
          <a:p>
            <a:pPr marL="457200" lvl="0" indent="-35857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2408" b="1"/>
              <a:t>Nithin J</a:t>
            </a:r>
            <a:endParaRPr sz="2408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>
            <a:spLocks noGrp="1"/>
          </p:cNvSpPr>
          <p:nvPr>
            <p:ph type="title"/>
          </p:nvPr>
        </p:nvSpPr>
        <p:spPr>
          <a:xfrm>
            <a:off x="1147100" y="135350"/>
            <a:ext cx="7846500" cy="261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33" b="1">
                <a:solidFill>
                  <a:srgbClr val="FF0000"/>
                </a:solidFill>
              </a:rPr>
              <a:t>PROBLEM STATEMENT: </a:t>
            </a:r>
            <a:endParaRPr sz="2333" b="1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66" b="1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-GB" sz="2000">
                <a:latin typeface="Arial"/>
                <a:ea typeface="Arial"/>
                <a:cs typeface="Arial"/>
                <a:sym typeface="Arial"/>
              </a:rPr>
              <a:t>Companies need to deliver goods efficiently to multiple locations.</a:t>
            </a:r>
            <a:br>
              <a:rPr lang="en-GB" sz="2000">
                <a:latin typeface="Arial"/>
                <a:ea typeface="Arial"/>
                <a:cs typeface="Arial"/>
                <a:sym typeface="Arial"/>
              </a:rPr>
            </a:br>
            <a:endParaRPr sz="65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-GB" sz="2000">
                <a:latin typeface="Arial"/>
                <a:ea typeface="Arial"/>
                <a:cs typeface="Arial"/>
                <a:sym typeface="Arial"/>
              </a:rPr>
              <a:t>Goal: Minimize fuel cost, travel time, and overall distance.</a:t>
            </a:r>
            <a:br>
              <a:rPr lang="en-GB" sz="2000">
                <a:latin typeface="Arial"/>
                <a:ea typeface="Arial"/>
                <a:cs typeface="Arial"/>
                <a:sym typeface="Arial"/>
              </a:rPr>
            </a:br>
            <a:endParaRPr sz="65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-GB" sz="2000">
                <a:latin typeface="Arial"/>
                <a:ea typeface="Arial"/>
                <a:cs typeface="Arial"/>
                <a:sym typeface="Arial"/>
              </a:rPr>
              <a:t>Input: Warehouse (source), delivery locations, and distances between them</a:t>
            </a:r>
            <a:br>
              <a:rPr lang="en-GB" sz="2000">
                <a:latin typeface="Arial"/>
                <a:ea typeface="Arial"/>
                <a:cs typeface="Arial"/>
                <a:sym typeface="Arial"/>
              </a:rPr>
            </a:br>
            <a:endParaRPr sz="65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-GB" sz="2000">
                <a:latin typeface="Arial"/>
                <a:ea typeface="Arial"/>
                <a:cs typeface="Arial"/>
                <a:sym typeface="Arial"/>
              </a:rPr>
              <a:t>Output: Optimized delivery routes and minimum network cost.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 b="1"/>
          </a:p>
        </p:txBody>
      </p:sp>
      <p:sp>
        <p:nvSpPr>
          <p:cNvPr id="141" name="Google Shape;141;p14"/>
          <p:cNvSpPr txBox="1">
            <a:spLocks noGrp="1"/>
          </p:cNvSpPr>
          <p:nvPr>
            <p:ph type="body" idx="1"/>
          </p:nvPr>
        </p:nvSpPr>
        <p:spPr>
          <a:xfrm>
            <a:off x="1297500" y="2887550"/>
            <a:ext cx="7846500" cy="239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100" b="1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Approach:</a:t>
            </a:r>
            <a:endParaRPr sz="2100" b="1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Represent data using Graph (Adjacency Matrix)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Apply Greedy-based algorithms: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○"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Dijkstra → Shortest path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○"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Prim → Minimum network cost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>
            <a:spLocks noGrp="1"/>
          </p:cNvSpPr>
          <p:nvPr>
            <p:ph type="title"/>
          </p:nvPr>
        </p:nvSpPr>
        <p:spPr>
          <a:xfrm>
            <a:off x="1267425" y="82425"/>
            <a:ext cx="7038900" cy="121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b="1"/>
              <a:t>Graph Representation: </a:t>
            </a:r>
            <a:endParaRPr sz="2100" b="1"/>
          </a:p>
        </p:txBody>
      </p:sp>
      <p:pic>
        <p:nvPicPr>
          <p:cNvPr id="147" name="Google Shape;147;p15" title="unnamed.jpg"/>
          <p:cNvPicPr preferRelativeResize="0"/>
          <p:nvPr/>
        </p:nvPicPr>
        <p:blipFill rotWithShape="1">
          <a:blip r:embed="rId3">
            <a:alphaModFix/>
          </a:blip>
          <a:srcRect l="-2100" t="2320" r="2100" b="-2320"/>
          <a:stretch/>
        </p:blipFill>
        <p:spPr>
          <a:xfrm>
            <a:off x="1267425" y="626825"/>
            <a:ext cx="4989002" cy="421587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48" name="Google Shape;148;p15"/>
          <p:cNvSpPr txBox="1"/>
          <p:nvPr/>
        </p:nvSpPr>
        <p:spPr>
          <a:xfrm>
            <a:off x="6256425" y="626825"/>
            <a:ext cx="2737200" cy="27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ato"/>
              <a:buChar char="●"/>
            </a:pPr>
            <a:r>
              <a:rPr lang="en-GB" sz="20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Nodes → Cities</a:t>
            </a:r>
            <a:endParaRPr sz="20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ato"/>
              <a:buChar char="●"/>
            </a:pPr>
            <a:r>
              <a:rPr lang="en-GB" sz="20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Edges → Distance between cities</a:t>
            </a:r>
            <a:endParaRPr sz="20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 txBox="1">
            <a:spLocks noGrp="1"/>
          </p:cNvSpPr>
          <p:nvPr>
            <p:ph type="title"/>
          </p:nvPr>
        </p:nvSpPr>
        <p:spPr>
          <a:xfrm>
            <a:off x="1207275" y="13810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★"/>
            </a:pPr>
            <a:r>
              <a:rPr lang="en-GB" sz="2500" b="1"/>
              <a:t>Greedy Algorithm:</a:t>
            </a:r>
            <a:endParaRPr sz="2500" b="1"/>
          </a:p>
        </p:txBody>
      </p:sp>
      <p:sp>
        <p:nvSpPr>
          <p:cNvPr id="154" name="Google Shape;154;p16"/>
          <p:cNvSpPr txBox="1"/>
          <p:nvPr/>
        </p:nvSpPr>
        <p:spPr>
          <a:xfrm>
            <a:off x="2120550" y="1819750"/>
            <a:ext cx="65874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ato"/>
              <a:buChar char="●"/>
            </a:pPr>
            <a:r>
              <a:rPr lang="en-GB" sz="2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Makes the best choice at each step</a:t>
            </a:r>
            <a:endParaRPr sz="2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ato"/>
              <a:buChar char="●"/>
            </a:pPr>
            <a:r>
              <a:rPr lang="en-GB" sz="2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Focuses on local optimum</a:t>
            </a:r>
            <a:endParaRPr sz="2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ato"/>
              <a:buChar char="●"/>
            </a:pPr>
            <a:r>
              <a:rPr lang="en-GB" sz="2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Does not consider future consequences</a:t>
            </a:r>
            <a:endParaRPr sz="2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ato"/>
              <a:buChar char="●"/>
            </a:pPr>
            <a:r>
              <a:rPr lang="en-GB" sz="2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Simple and efficient approach</a:t>
            </a:r>
            <a:endParaRPr sz="2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ato"/>
              <a:buChar char="●"/>
            </a:pPr>
            <a:r>
              <a:rPr lang="en-GB" sz="2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Used in:</a:t>
            </a:r>
            <a:endParaRPr sz="2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                     Dijkstra's Algorithm</a:t>
            </a:r>
            <a:endParaRPr sz="2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                     Prim's Algorithm</a:t>
            </a:r>
            <a:endParaRPr sz="2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5" name="Google Shape;155;p16"/>
          <p:cNvSpPr txBox="1"/>
          <p:nvPr/>
        </p:nvSpPr>
        <p:spPr>
          <a:xfrm>
            <a:off x="1207275" y="902375"/>
            <a:ext cx="7324200" cy="5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ato"/>
              <a:buChar char="➔"/>
            </a:pPr>
            <a:r>
              <a:rPr lang="en-GB" sz="22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What logic do our algorithms follow</a:t>
            </a:r>
            <a:endParaRPr sz="22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★"/>
            </a:pPr>
            <a:r>
              <a:rPr lang="en-GB" sz="2500" b="1"/>
              <a:t> Dijkstra Algorithm:</a:t>
            </a:r>
            <a:endParaRPr sz="2500" b="1"/>
          </a:p>
        </p:txBody>
      </p:sp>
      <p:sp>
        <p:nvSpPr>
          <p:cNvPr id="161" name="Google Shape;161;p17"/>
          <p:cNvSpPr txBox="1">
            <a:spLocks noGrp="1"/>
          </p:cNvSpPr>
          <p:nvPr>
            <p:ph type="body" idx="1"/>
          </p:nvPr>
        </p:nvSpPr>
        <p:spPr>
          <a:xfrm>
            <a:off x="2004350" y="223230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 Finds shortest path from a source node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Uses greedy approach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Selects nearest unvisited node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Updates distances step-by-step</a:t>
            </a:r>
            <a:endParaRPr sz="24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1297500" y="1112350"/>
            <a:ext cx="6181200" cy="3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Lato"/>
              <a:buChar char="➔"/>
            </a:pPr>
            <a:r>
              <a:rPr lang="en-GB" sz="21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How do we actually find the shortest delivery route?</a:t>
            </a:r>
            <a:endParaRPr sz="21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★"/>
            </a:pPr>
            <a:r>
              <a:rPr lang="en-GB" sz="2700" b="1"/>
              <a:t>Prim’s Algorithm:</a:t>
            </a:r>
            <a:endParaRPr sz="2700" b="1"/>
          </a:p>
        </p:txBody>
      </p:sp>
      <p:sp>
        <p:nvSpPr>
          <p:cNvPr id="168" name="Google Shape;168;p18"/>
          <p:cNvSpPr txBox="1">
            <a:spLocks noGrp="1"/>
          </p:cNvSpPr>
          <p:nvPr>
            <p:ph type="body" idx="1"/>
          </p:nvPr>
        </p:nvSpPr>
        <p:spPr>
          <a:xfrm>
            <a:off x="1297500" y="1191575"/>
            <a:ext cx="7038900" cy="68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➔"/>
            </a:pPr>
            <a:r>
              <a:rPr lang="en-GB" sz="2300" b="1"/>
              <a:t>How do we connect all cities with minimum total cost?</a:t>
            </a:r>
            <a:endParaRPr sz="2300" b="1"/>
          </a:p>
        </p:txBody>
      </p:sp>
      <p:sp>
        <p:nvSpPr>
          <p:cNvPr id="169" name="Google Shape;169;p18"/>
          <p:cNvSpPr txBox="1"/>
          <p:nvPr/>
        </p:nvSpPr>
        <p:spPr>
          <a:xfrm>
            <a:off x="2255900" y="2301175"/>
            <a:ext cx="5955600" cy="24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Lato"/>
              <a:buChar char="●"/>
            </a:pPr>
            <a:r>
              <a:rPr lang="en-GB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Connects all nodes with minimum cost</a:t>
            </a:r>
            <a:endParaRPr sz="2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Lato"/>
              <a:buChar char="●"/>
            </a:pPr>
            <a:r>
              <a:rPr lang="en-GB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Uses greedy approach</a:t>
            </a:r>
            <a:endParaRPr sz="2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Lato"/>
              <a:buChar char="●"/>
            </a:pPr>
            <a:r>
              <a:rPr lang="en-GB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Selects smallest edge at each step</a:t>
            </a:r>
            <a:endParaRPr sz="2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Lato"/>
              <a:buChar char="●"/>
            </a:pPr>
            <a:r>
              <a:rPr lang="en-GB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Avoids cycles</a:t>
            </a:r>
            <a:endParaRPr sz="2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★"/>
            </a:pPr>
            <a:r>
              <a:rPr lang="en-GB" sz="2600" b="1"/>
              <a:t>Combined Optimization:</a:t>
            </a:r>
            <a:endParaRPr sz="2600" b="1"/>
          </a:p>
        </p:txBody>
      </p:sp>
      <p:sp>
        <p:nvSpPr>
          <p:cNvPr id="175" name="Google Shape;175;p19"/>
          <p:cNvSpPr txBox="1">
            <a:spLocks noGrp="1"/>
          </p:cNvSpPr>
          <p:nvPr>
            <p:ph type="body" idx="1"/>
          </p:nvPr>
        </p:nvSpPr>
        <p:spPr>
          <a:xfrm>
            <a:off x="1297500" y="1086275"/>
            <a:ext cx="7038900" cy="7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➔"/>
            </a:pPr>
            <a:r>
              <a:rPr lang="en-GB" sz="2200" b="1"/>
              <a:t>What if we care about both time and cost together?</a:t>
            </a:r>
            <a:endParaRPr sz="2200" b="1"/>
          </a:p>
        </p:txBody>
      </p:sp>
      <p:sp>
        <p:nvSpPr>
          <p:cNvPr id="176" name="Google Shape;176;p19"/>
          <p:cNvSpPr txBox="1"/>
          <p:nvPr/>
        </p:nvSpPr>
        <p:spPr>
          <a:xfrm>
            <a:off x="2120550" y="1789775"/>
            <a:ext cx="5985600" cy="18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Lato"/>
              <a:buChar char="●"/>
            </a:pPr>
            <a:r>
              <a:rPr lang="en-GB" sz="2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Real-world problems involve multiple factors</a:t>
            </a:r>
            <a:endParaRPr sz="2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Lato"/>
              <a:buChar char="●"/>
            </a:pPr>
            <a:r>
              <a:rPr lang="en-GB" sz="2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Distance and cost both affect delivery</a:t>
            </a:r>
            <a:endParaRPr sz="2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Lato"/>
              <a:buChar char="●"/>
            </a:pPr>
            <a:r>
              <a:rPr lang="en-GB" sz="2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Combine both using weighted formula</a:t>
            </a:r>
            <a:endParaRPr sz="2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Lato"/>
              <a:buChar char="●"/>
            </a:pPr>
            <a:r>
              <a:rPr lang="en-GB" sz="2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W=α⋅D+β⋅C</a:t>
            </a:r>
            <a:endParaRPr sz="13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7" name="Google Shape;177;p19"/>
          <p:cNvSpPr txBox="1"/>
          <p:nvPr/>
        </p:nvSpPr>
        <p:spPr>
          <a:xfrm>
            <a:off x="3444025" y="3083100"/>
            <a:ext cx="6767700" cy="19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ato"/>
              <a:buChar char="●"/>
            </a:pPr>
            <a:r>
              <a:rPr lang="en-GB" sz="1300" b="1">
                <a:solidFill>
                  <a:schemeClr val="lt1"/>
                </a:solidFill>
              </a:rPr>
              <a:t>W</a:t>
            </a:r>
            <a:r>
              <a:rPr lang="en-GB" sz="1300">
                <a:solidFill>
                  <a:schemeClr val="lt1"/>
                </a:solidFill>
              </a:rPr>
              <a:t> → </a:t>
            </a:r>
            <a:r>
              <a:rPr lang="en-GB" sz="1300" b="1">
                <a:solidFill>
                  <a:schemeClr val="lt1"/>
                </a:solidFill>
              </a:rPr>
              <a:t>Weight</a:t>
            </a:r>
            <a:r>
              <a:rPr lang="en-GB" sz="1300">
                <a:solidFill>
                  <a:schemeClr val="lt1"/>
                </a:solidFill>
              </a:rPr>
              <a:t> or </a:t>
            </a:r>
            <a:r>
              <a:rPr lang="en-GB" sz="1300" b="1">
                <a:solidFill>
                  <a:schemeClr val="lt1"/>
                </a:solidFill>
              </a:rPr>
              <a:t>Final Score</a:t>
            </a:r>
            <a:r>
              <a:rPr lang="en-GB" sz="1300">
                <a:solidFill>
                  <a:schemeClr val="lt1"/>
                </a:solidFill>
              </a:rPr>
              <a:t> (the result)</a:t>
            </a:r>
            <a:endParaRPr sz="1300">
              <a:solidFill>
                <a:schemeClr val="lt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ato"/>
              <a:buChar char="●"/>
            </a:pPr>
            <a:r>
              <a:rPr lang="en-GB" sz="1300" b="1">
                <a:solidFill>
                  <a:schemeClr val="lt1"/>
                </a:solidFill>
              </a:rPr>
              <a:t>α</a:t>
            </a:r>
            <a:r>
              <a:rPr lang="en-GB" sz="1300">
                <a:solidFill>
                  <a:schemeClr val="lt1"/>
                </a:solidFill>
              </a:rPr>
              <a:t> → </a:t>
            </a:r>
            <a:r>
              <a:rPr lang="en-GB" sz="1300" b="1">
                <a:solidFill>
                  <a:schemeClr val="lt1"/>
                </a:solidFill>
              </a:rPr>
              <a:t>Weight factor for D</a:t>
            </a:r>
            <a:r>
              <a:rPr lang="en-GB" sz="1300">
                <a:solidFill>
                  <a:schemeClr val="lt1"/>
                </a:solidFill>
              </a:rPr>
              <a:t> (importance of D)</a:t>
            </a:r>
            <a:endParaRPr sz="1300">
              <a:solidFill>
                <a:schemeClr val="lt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ato"/>
              <a:buChar char="●"/>
            </a:pPr>
            <a:r>
              <a:rPr lang="en-GB" sz="1300" b="1">
                <a:solidFill>
                  <a:schemeClr val="lt1"/>
                </a:solidFill>
              </a:rPr>
              <a:t>D</a:t>
            </a:r>
            <a:r>
              <a:rPr lang="en-GB" sz="1300">
                <a:solidFill>
                  <a:schemeClr val="lt1"/>
                </a:solidFill>
              </a:rPr>
              <a:t> → </a:t>
            </a:r>
            <a:r>
              <a:rPr lang="en-GB" sz="1300" b="1">
                <a:solidFill>
                  <a:schemeClr val="lt1"/>
                </a:solidFill>
              </a:rPr>
              <a:t>First component</a:t>
            </a:r>
            <a:r>
              <a:rPr lang="en-GB" sz="1300">
                <a:solidFill>
                  <a:schemeClr val="lt1"/>
                </a:solidFill>
              </a:rPr>
              <a:t> (e.g., Distance, Delay, or Data)</a:t>
            </a:r>
            <a:endParaRPr sz="1300">
              <a:solidFill>
                <a:schemeClr val="lt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ato"/>
              <a:buChar char="●"/>
            </a:pPr>
            <a:r>
              <a:rPr lang="en-GB" sz="1300" b="1">
                <a:solidFill>
                  <a:schemeClr val="lt1"/>
                </a:solidFill>
              </a:rPr>
              <a:t>β</a:t>
            </a:r>
            <a:r>
              <a:rPr lang="en-GB" sz="1300">
                <a:solidFill>
                  <a:schemeClr val="lt1"/>
                </a:solidFill>
              </a:rPr>
              <a:t> → </a:t>
            </a:r>
            <a:r>
              <a:rPr lang="en-GB" sz="1300" b="1">
                <a:solidFill>
                  <a:schemeClr val="lt1"/>
                </a:solidFill>
              </a:rPr>
              <a:t>Weight factor for C</a:t>
            </a:r>
            <a:r>
              <a:rPr lang="en-GB" sz="1300">
                <a:solidFill>
                  <a:schemeClr val="lt1"/>
                </a:solidFill>
              </a:rPr>
              <a:t> (importance of C)</a:t>
            </a:r>
            <a:endParaRPr sz="1300">
              <a:solidFill>
                <a:schemeClr val="lt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ato"/>
              <a:buChar char="●"/>
            </a:pPr>
            <a:r>
              <a:rPr lang="en-GB" sz="1300" b="1">
                <a:solidFill>
                  <a:schemeClr val="lt1"/>
                </a:solidFill>
              </a:rPr>
              <a:t>C</a:t>
            </a:r>
            <a:r>
              <a:rPr lang="en-GB" sz="1300">
                <a:solidFill>
                  <a:schemeClr val="lt1"/>
                </a:solidFill>
              </a:rPr>
              <a:t> → </a:t>
            </a:r>
            <a:r>
              <a:rPr lang="en-GB" sz="1300" b="1">
                <a:solidFill>
                  <a:schemeClr val="lt1"/>
                </a:solidFill>
              </a:rPr>
              <a:t>Second component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20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84" name="Google Shape;184;p20" title="unnamed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42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1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/>
              <a:t>Result Analysis:</a:t>
            </a:r>
            <a:endParaRPr sz="2500" b="1"/>
          </a:p>
        </p:txBody>
      </p:sp>
      <p:sp>
        <p:nvSpPr>
          <p:cNvPr id="190" name="Google Shape;190;p21"/>
          <p:cNvSpPr txBox="1"/>
          <p:nvPr/>
        </p:nvSpPr>
        <p:spPr>
          <a:xfrm>
            <a:off x="1809300" y="1158025"/>
            <a:ext cx="6527100" cy="36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➢"/>
            </a:pPr>
            <a:r>
              <a:rPr lang="en-GB" sz="1800" b="1">
                <a:solidFill>
                  <a:schemeClr val="lt1"/>
                </a:solidFill>
              </a:rPr>
              <a:t>Dijkstra's Algorithm:</a:t>
            </a:r>
            <a:br>
              <a:rPr lang="en-GB" sz="1800">
                <a:solidFill>
                  <a:schemeClr val="lt1"/>
                </a:solidFill>
              </a:rPr>
            </a:br>
            <a:r>
              <a:rPr lang="en-GB" sz="1800">
                <a:solidFill>
                  <a:schemeClr val="lt1"/>
                </a:solidFill>
              </a:rPr>
              <a:t> → Finds fastest route from source</a:t>
            </a:r>
            <a:br>
              <a:rPr lang="en-GB" sz="1800">
                <a:solidFill>
                  <a:schemeClr val="lt1"/>
                </a:solidFill>
              </a:rPr>
            </a:br>
            <a:r>
              <a:rPr lang="en-GB" sz="1800">
                <a:solidFill>
                  <a:schemeClr val="lt1"/>
                </a:solidFill>
              </a:rPr>
              <a:t> → Example: 0 → 2 → 1 = </a:t>
            </a:r>
            <a:r>
              <a:rPr lang="en-GB" sz="1800" b="1">
                <a:solidFill>
                  <a:schemeClr val="lt1"/>
                </a:solidFill>
              </a:rPr>
              <a:t>3</a:t>
            </a:r>
            <a:endParaRPr sz="1800" b="1">
              <a:solidFill>
                <a:schemeClr val="lt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➢"/>
            </a:pPr>
            <a:r>
              <a:rPr lang="en-GB" sz="1800" b="1">
                <a:solidFill>
                  <a:schemeClr val="lt1"/>
                </a:solidFill>
              </a:rPr>
              <a:t>Prim's Algorithm:</a:t>
            </a:r>
            <a:br>
              <a:rPr lang="en-GB" sz="1800">
                <a:solidFill>
                  <a:schemeClr val="lt1"/>
                </a:solidFill>
              </a:rPr>
            </a:br>
            <a:r>
              <a:rPr lang="en-GB" sz="1800">
                <a:solidFill>
                  <a:schemeClr val="lt1"/>
                </a:solidFill>
              </a:rPr>
              <a:t> → Connects all cities with minimum cost</a:t>
            </a:r>
            <a:br>
              <a:rPr lang="en-GB" sz="1800">
                <a:solidFill>
                  <a:schemeClr val="lt1"/>
                </a:solidFill>
              </a:rPr>
            </a:br>
            <a:r>
              <a:rPr lang="en-GB" sz="1800">
                <a:solidFill>
                  <a:schemeClr val="lt1"/>
                </a:solidFill>
              </a:rPr>
              <a:t> → Total cost = </a:t>
            </a:r>
            <a:r>
              <a:rPr lang="en-GB" sz="1800" b="1">
                <a:solidFill>
                  <a:schemeClr val="lt1"/>
                </a:solidFill>
              </a:rPr>
              <a:t>10</a:t>
            </a:r>
            <a:endParaRPr sz="1800" b="1">
              <a:solidFill>
                <a:schemeClr val="lt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➢"/>
            </a:pPr>
            <a:r>
              <a:rPr lang="en-GB" sz="1800" b="1">
                <a:solidFill>
                  <a:schemeClr val="lt1"/>
                </a:solidFill>
              </a:rPr>
              <a:t>Combined Optimization:</a:t>
            </a:r>
            <a:br>
              <a:rPr lang="en-GB" sz="1800">
                <a:solidFill>
                  <a:schemeClr val="lt1"/>
                </a:solidFill>
              </a:rPr>
            </a:br>
            <a:r>
              <a:rPr lang="en-GB" sz="1800">
                <a:solidFill>
                  <a:schemeClr val="lt1"/>
                </a:solidFill>
              </a:rPr>
              <a:t> → Considers both distance and cost</a:t>
            </a:r>
            <a:br>
              <a:rPr lang="en-GB" sz="1800">
                <a:solidFill>
                  <a:schemeClr val="lt1"/>
                </a:solidFill>
              </a:rPr>
            </a:br>
            <a:r>
              <a:rPr lang="en-GB" sz="1800">
                <a:solidFill>
                  <a:schemeClr val="lt1"/>
                </a:solidFill>
              </a:rPr>
              <a:t> → Produces a balanced solution</a:t>
            </a:r>
            <a:endParaRPr sz="1800">
              <a:solidFill>
                <a:schemeClr val="lt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7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latin typeface="Arial"/>
                <a:ea typeface="Arial"/>
                <a:cs typeface="Arial"/>
                <a:sym typeface="Arial"/>
              </a:rPr>
              <a:t>Real-Life Applications:</a:t>
            </a:r>
            <a:endParaRPr sz="3800" b="1"/>
          </a:p>
        </p:txBody>
      </p:sp>
      <p:sp>
        <p:nvSpPr>
          <p:cNvPr id="196" name="Google Shape;196;p22"/>
          <p:cNvSpPr txBox="1">
            <a:spLocks noGrp="1"/>
          </p:cNvSpPr>
          <p:nvPr>
            <p:ph type="body" idx="1"/>
          </p:nvPr>
        </p:nvSpPr>
        <p:spPr>
          <a:xfrm>
            <a:off x="1297500" y="13078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Delivery and logistics optimization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Route planning in transportation systems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Ride-sharing and navigation systems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Network design (internet, telecom)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Supply chain and distribution management</a:t>
            </a:r>
            <a:endParaRPr sz="24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3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1"/>
              <a:t>Conclusion:</a:t>
            </a:r>
            <a:endParaRPr sz="2600" b="1"/>
          </a:p>
        </p:txBody>
      </p:sp>
      <p:sp>
        <p:nvSpPr>
          <p:cNvPr id="202" name="Google Shape;202;p23"/>
          <p:cNvSpPr txBox="1">
            <a:spLocks noGrp="1"/>
          </p:cNvSpPr>
          <p:nvPr>
            <p:ph type="body" idx="1"/>
          </p:nvPr>
        </p:nvSpPr>
        <p:spPr>
          <a:xfrm>
            <a:off x="1297500" y="1176525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Graph models real-world delivery network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Greedy approach enables efficient decision-making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Dijkstra's Algorithm → shortest path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Prim's Algorithm → minimum cost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Combined approach → real-world optimization</a:t>
            </a:r>
            <a:endParaRPr sz="22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410</Words>
  <Application>Microsoft Office PowerPoint</Application>
  <PresentationFormat>On-screen Show (16:9)</PresentationFormat>
  <Paragraphs>68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Lato</vt:lpstr>
      <vt:lpstr>Montserrat</vt:lpstr>
      <vt:lpstr>Arial</vt:lpstr>
      <vt:lpstr>Focus</vt:lpstr>
      <vt:lpstr>Delivery Route Optimization System</vt:lpstr>
      <vt:lpstr>PROBLEM STATEMENT:   Companies need to deliver goods efficiently to multiple locations.  Goal: Minimize fuel cost, travel time, and overall distance.  Input: Warehouse (source), delivery locations, and distances between them  Output: Optimized delivery routes and minimum network cost. </vt:lpstr>
      <vt:lpstr>Graph Representation: </vt:lpstr>
      <vt:lpstr>Greedy Algorithm:</vt:lpstr>
      <vt:lpstr> Dijkstra Algorithm:</vt:lpstr>
      <vt:lpstr>Prim’s Algorithm:</vt:lpstr>
      <vt:lpstr>Combined Optimization:</vt:lpstr>
      <vt:lpstr>PowerPoint Presentation</vt:lpstr>
      <vt:lpstr>Result Analysis:</vt:lpstr>
      <vt:lpstr>Real-Life Applications:</vt:lpstr>
      <vt:lpstr>Conclusion: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Nithin j</dc:creator>
  <cp:lastModifiedBy>Nithin j</cp:lastModifiedBy>
  <cp:revision>1</cp:revision>
  <dcterms:modified xsi:type="dcterms:W3CDTF">2026-03-24T03:33:35Z</dcterms:modified>
</cp:coreProperties>
</file>